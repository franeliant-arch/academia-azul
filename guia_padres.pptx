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16459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11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Guía para Padres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Adolescentes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91840" y="2194560"/>
            <a:ext cx="2560320" cy="2560320"/>
          </a:xfrm>
          <a:prstGeom prst="ellipse">
            <a:avLst/>
          </a:prstGeom>
          <a:solidFill>
            <a:srgbClr val="FFF8F0"/>
          </a:solidFill>
          <a:ln w="38100">
            <a:solidFill>
              <a:srgbClr val="FFDD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224028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0" dirty="0">
                <a:solidFill>
                  <a:srgbClr val="000000"/>
                </a:solidFill>
              </a:rPr>
              <a:t>👪</a:t>
            </a:r>
            <a:endParaRPr lang="en-US" sz="8500" dirty="0"/>
          </a:p>
        </p:txBody>
      </p:sp>
      <p:sp>
        <p:nvSpPr>
          <p:cNvPr id="8" name="Shape 6"/>
          <p:cNvSpPr/>
          <p:nvPr/>
        </p:nvSpPr>
        <p:spPr>
          <a:xfrm>
            <a:off x="0" y="5029200"/>
            <a:ext cx="914400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1206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acompañar, comunicar y fortalecer el vínculo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tus hijos en la adolescencia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4663440"/>
            <a:ext cx="201168" cy="20116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4663440"/>
            <a:ext cx="201168" cy="20116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4663440"/>
            <a:ext cx="201168" cy="20116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4663440"/>
            <a:ext cx="201168" cy="201168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4663440"/>
            <a:ext cx="201168" cy="201168"/>
          </a:xfrm>
          <a:prstGeom prst="ellipse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4663440"/>
            <a:ext cx="201168" cy="201168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la adolescencia?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371600"/>
          </a:xfrm>
          <a:prstGeom prst="rect">
            <a:avLst/>
          </a:prstGeom>
          <a:solidFill>
            <a:srgbClr val="F0EFFF"/>
          </a:solidFill>
          <a:ln w="1905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adolescencia (10–19 años) es una etapa de cambios físicos, emocionales, cognitivos y sociales profundos. No es una "fase difícil" — es un proceso de construcción de identidad que requiere acompañamiento amoroso y paciente.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2651760" cy="3474720"/>
          </a:xfrm>
          <a:prstGeom prst="rect">
            <a:avLst/>
          </a:prstGeom>
          <a:solidFill>
            <a:srgbClr val="F0EFFF"/>
          </a:solidFill>
          <a:ln w="254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6517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3520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lóbulo prefrontal (toma de decisiones) aún está en desarrollo. Actúan impulsivamente — es normal.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606040"/>
            <a:ext cx="2651760" cy="3474720"/>
          </a:xfrm>
          <a:prstGeom prst="rect">
            <a:avLst/>
          </a:prstGeom>
          <a:solidFill>
            <a:srgbClr val="FFF0F0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26517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💪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46120" y="3520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Cuerpo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40690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hormonales y físicos generan inseguridad. Necesitan sentirse aceptados y no juzgados.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606040"/>
            <a:ext cx="2651760" cy="3474720"/>
          </a:xfrm>
          <a:prstGeom prst="rect">
            <a:avLst/>
          </a:prstGeom>
          <a:solidFill>
            <a:srgbClr val="E0FAF6"/>
          </a:solidFill>
          <a:ln w="254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26517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❤️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26480" y="3520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Emociones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40690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emociones se sienten más intensas. Requieren un espacio seguro para expresarlas sin miedo.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EF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6492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la etapa es el primer paso para acompañar mejor.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Comunicación Efectiva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SÍ HACER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023360" cy="502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97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EVITAR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023360" cy="594360"/>
          </a:xfrm>
          <a:prstGeom prst="rect">
            <a:avLst/>
          </a:prstGeom>
          <a:solidFill>
            <a:srgbClr val="E0FAF6"/>
          </a:solidFill>
          <a:ln w="12700">
            <a:solidFill>
              <a:srgbClr val="CCF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sin interrumpir ni juzgar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4023360" cy="594360"/>
          </a:xfrm>
          <a:prstGeom prst="rect">
            <a:avLst/>
          </a:prstGeom>
          <a:solidFill>
            <a:srgbClr val="E0FAF6"/>
          </a:solidFill>
          <a:ln w="12700">
            <a:solidFill>
              <a:srgbClr val="CCF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048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cómo se sienten, no solo qué hicieron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72384"/>
            <a:ext cx="4023360" cy="594360"/>
          </a:xfrm>
          <a:prstGeom prst="rect">
            <a:avLst/>
          </a:prstGeom>
          <a:solidFill>
            <a:srgbClr val="E0FAF6"/>
          </a:solidFill>
          <a:ln w="12700">
            <a:solidFill>
              <a:srgbClr val="CCF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723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sus emociones: "Entiendo que estés frustrado"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739896"/>
            <a:ext cx="4023360" cy="594360"/>
          </a:xfrm>
          <a:prstGeom prst="rect">
            <a:avLst/>
          </a:prstGeom>
          <a:solidFill>
            <a:srgbClr val="E0FAF6"/>
          </a:solidFill>
          <a:ln w="12700">
            <a:solidFill>
              <a:srgbClr val="CCF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3989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en momentos tranquilos, no en crisis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407408"/>
            <a:ext cx="4023360" cy="594360"/>
          </a:xfrm>
          <a:prstGeom prst="rect">
            <a:avLst/>
          </a:prstGeom>
          <a:solidFill>
            <a:srgbClr val="E0FAF6"/>
          </a:solidFill>
          <a:ln w="12700">
            <a:solidFill>
              <a:srgbClr val="CCF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074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tus propias experiencias de adolescente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5074920"/>
            <a:ext cx="4023360" cy="594360"/>
          </a:xfrm>
          <a:prstGeom prst="rect">
            <a:avLst/>
          </a:prstGeom>
          <a:solidFill>
            <a:srgbClr val="E0FAF6"/>
          </a:solidFill>
          <a:ln w="12700">
            <a:solidFill>
              <a:srgbClr val="CCF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0749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Respetar sus silencios y espacios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737360"/>
            <a:ext cx="4023360" cy="594360"/>
          </a:xfrm>
          <a:prstGeom prst="rect">
            <a:avLst/>
          </a:prstGeom>
          <a:solidFill>
            <a:srgbClr val="FFF0F0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7373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sus problemas: "Eso no es nada"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404872"/>
            <a:ext cx="4023360" cy="594360"/>
          </a:xfrm>
          <a:prstGeom prst="rect">
            <a:avLst/>
          </a:prstGeom>
          <a:solidFill>
            <a:srgbClr val="FFF0F0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4048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 hermanos u otros jóvenes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072384"/>
            <a:ext cx="4023360" cy="594360"/>
          </a:xfrm>
          <a:prstGeom prst="rect">
            <a:avLst/>
          </a:prstGeom>
          <a:solidFill>
            <a:srgbClr val="FFF0F0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723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Interrogar o espiar sus conversaciones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739896"/>
            <a:ext cx="4023360" cy="594360"/>
          </a:xfrm>
          <a:prstGeom prst="rect">
            <a:avLst/>
          </a:prstGeom>
          <a:solidFill>
            <a:srgbClr val="FFF0F0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3989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Gritar o reaccionar de forma impulsiva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4407408"/>
            <a:ext cx="4023360" cy="594360"/>
          </a:xfrm>
          <a:prstGeom prst="rect">
            <a:avLst/>
          </a:prstGeom>
          <a:solidFill>
            <a:srgbClr val="FFF0F0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4074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Imponer decisiones sin escuchar su opinión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5074920"/>
            <a:ext cx="4023360" cy="594360"/>
          </a:xfrm>
          <a:prstGeom prst="rect">
            <a:avLst/>
          </a:prstGeom>
          <a:solidFill>
            <a:srgbClr val="FFF0F0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50749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Burlarme de sus gustos o amigos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Límites y Normas en Casa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FFF8E1"/>
          </a:solidFill>
          <a:ln w="25400">
            <a:solidFill>
              <a:srgbClr val="FF8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límites no son muros, son el contorno seguro dentro del cual tu hijo puede crecer libre."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8412480" cy="1280160"/>
          </a:xfrm>
          <a:prstGeom prst="rect">
            <a:avLst/>
          </a:prstGeom>
          <a:solidFill>
            <a:srgbClr val="FFF8E1"/>
          </a:solidFill>
          <a:ln w="19050">
            <a:solidFill>
              <a:srgbClr val="FF8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77440"/>
            <a:ext cx="731520" cy="73152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Claros y coherentes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límites deben ser comprensibles. Explicar el POR QUÉ, no solo el qué. Reglas que cambian según el humor del adulto generan desconfianza.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520440"/>
            <a:ext cx="8412480" cy="1280160"/>
          </a:xfrm>
          <a:prstGeom prst="rect">
            <a:avLst/>
          </a:prstGeom>
          <a:solidFill>
            <a:srgbClr val="E3EEFF"/>
          </a:solidFill>
          <a:ln w="19050">
            <a:solidFill>
              <a:srgbClr val="297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794760"/>
            <a:ext cx="731520" cy="731520"/>
          </a:xfrm>
          <a:prstGeom prst="ellipse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94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6118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7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Negociables con diálogo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06908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medida que crecen, algunos límites pueden renegociarse. Involúcralos en la creación de acuerdos familiares para que los sientan propios.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937760"/>
            <a:ext cx="8412480" cy="1280160"/>
          </a:xfrm>
          <a:prstGeom prst="rect">
            <a:avLst/>
          </a:prstGeom>
          <a:solidFill>
            <a:srgbClr val="E0FAF6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5212080"/>
            <a:ext cx="731520" cy="73152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212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0292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consecuencias justas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548640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consecuencias deben ser proporcionales, predecibles y sin humillar. El castigo físico o la humillación dañan la autoestima y la confianza.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Emociones y Salud Mental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solidFill>
            <a:srgbClr val="FDE8F5"/>
          </a:solidFill>
          <a:ln w="19050">
            <a:solidFill>
              <a:srgbClr val="E91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La salud mental adolescente es tan importante como la física. Muchas condiciones comienzan en esta etapa.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023360" cy="2331720"/>
          </a:xfrm>
          <a:prstGeom prst="rect">
            <a:avLst/>
          </a:prstGeom>
          <a:solidFill>
            <a:srgbClr val="FFF0F0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9202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Señales de alerta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Tristeza prolongada (+2 semanas)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Aislamiento social repentino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Cambios en sueño o apetito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Autolesiones o comentarios de desesperanza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4023360" cy="2331720"/>
          </a:xfrm>
          <a:prstGeom prst="rect">
            <a:avLst/>
          </a:prstGeom>
          <a:solidFill>
            <a:srgbClr val="F0EFFF"/>
          </a:solidFill>
          <a:ln w="1905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9202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0" y="1920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protegerlos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56032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Crear un ambiente seguro para hablar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minimizar ni ridiculizar sus sentimientos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Mantener rutinas estables en casa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Decirles que los amas aunque haya conflictos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4389120"/>
            <a:ext cx="4023360" cy="2331720"/>
          </a:xfrm>
          <a:prstGeom prst="rect">
            <a:avLst/>
          </a:prstGeom>
          <a:solidFill>
            <a:srgbClr val="E3EEFF"/>
          </a:solidFill>
          <a:ln w="19050">
            <a:solidFill>
              <a:srgbClr val="297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44348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97280" y="4434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Redes sociales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507492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Hablar, no prohibir sin explicación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Acordar horarios y espacios sin pantallas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Observar cambios de humor tras uso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Educar sobre ciberbullying y privacidad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4389120"/>
            <a:ext cx="4023360" cy="2331720"/>
          </a:xfrm>
          <a:prstGeom prst="rect">
            <a:avLst/>
          </a:prstGeom>
          <a:solidFill>
            <a:srgbClr val="E0FAF6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44348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🩺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86400" y="4434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Cuándo buscar ayuda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507492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Síntomas que duran más de 2 semanas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Rendimiento escolar en caída libre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Menciones de hacerse daño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Cambios de personalidad muy bruscos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7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Autonomía y Confianza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los mayores desafíos: soltar el control sin abandonar el acompañamiento. La confianza se construye dando responsabilidades progresivas.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40280" y="2423160"/>
            <a:ext cx="27432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103120"/>
            <a:ext cx="640080" cy="64008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852928"/>
            <a:ext cx="1920240" cy="2011680"/>
          </a:xfrm>
          <a:prstGeom prst="rect">
            <a:avLst/>
          </a:prstGeom>
          <a:solidFill>
            <a:srgbClr val="E3EEFF"/>
          </a:solidFill>
          <a:ln w="19050">
            <a:solidFill>
              <a:srgbClr val="FF8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9260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autonomía en tareas del hogar y decisiones sobre hobbies.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423160"/>
            <a:ext cx="27432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2103120"/>
            <a:ext cx="640080" cy="6400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13-15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4600" y="2852928"/>
            <a:ext cx="1920240" cy="2011680"/>
          </a:xfrm>
          <a:prstGeom prst="rect">
            <a:avLst/>
          </a:prstGeom>
          <a:solidFill>
            <a:srgbClr val="E3EEFF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29260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cortas con amigos, mayor privacidad digital, opinión en reglas.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2423160"/>
            <a:ext cx="27432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640080" cy="640080"/>
          </a:xfrm>
          <a:prstGeom prst="ellipse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16-18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852928"/>
            <a:ext cx="1920240" cy="2011680"/>
          </a:xfrm>
          <a:prstGeom prst="rect">
            <a:avLst/>
          </a:prstGeom>
          <a:solidFill>
            <a:srgbClr val="E3EEFF"/>
          </a:solidFill>
          <a:ln w="19050">
            <a:solidFill>
              <a:srgbClr val="297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9260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Participar en decisiones familiares, responsabilidades económicas pequeñas.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210312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18+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2852928"/>
            <a:ext cx="1920240" cy="2011680"/>
          </a:xfrm>
          <a:prstGeom prst="rect">
            <a:avLst/>
          </a:prstGeom>
          <a:solidFill>
            <a:srgbClr val="E3EEFF"/>
          </a:solidFill>
          <a:ln w="1905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29260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Apoyar su independencia, ser red de sostén sin tomar decisiones por ellos.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5029200"/>
            <a:ext cx="8412480" cy="36576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029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CLAVES PARA CONSTRUIR CONFIANZA MUTUA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486400"/>
            <a:ext cx="2651760" cy="1234440"/>
          </a:xfrm>
          <a:prstGeom prst="rect">
            <a:avLst/>
          </a:prstGeom>
          <a:solidFill>
            <a:srgbClr val="F0F4FF"/>
          </a:solidFill>
          <a:ln w="19050">
            <a:solidFill>
              <a:srgbClr val="297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5504688"/>
            <a:ext cx="731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51560" y="5532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Cumple lo que prometes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596188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confianza se gana con coherencia entre tus palabras y tus acciones.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5486400"/>
            <a:ext cx="2651760" cy="1234440"/>
          </a:xfrm>
          <a:prstGeom prst="rect">
            <a:avLst/>
          </a:prstGeom>
          <a:solidFill>
            <a:srgbClr val="F0F4FF"/>
          </a:solidFill>
          <a:ln w="1905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46120" y="5504688"/>
            <a:ext cx="731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31920" y="5532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Respeta su privacidad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31920" y="596188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sus mensajes sin permiso destruye la confianza y el diálogo.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5486400"/>
            <a:ext cx="2651760" cy="1234440"/>
          </a:xfrm>
          <a:prstGeom prst="rect">
            <a:avLst/>
          </a:prstGeom>
          <a:solidFill>
            <a:srgbClr val="F0F4FF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26480" y="5504688"/>
            <a:ext cx="731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12280" y="5532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Admite tus errores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12280" y="596188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disculpas cuando te equivocas les enseña humildad y empatía.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de Padres y Madres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es padre o madre perfecto/a. Reconocer nuestros errores es el primer paso para cambiarlos.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1508760"/>
          </a:xfrm>
          <a:prstGeom prst="rect">
            <a:avLst/>
          </a:prstGeom>
          <a:solidFill>
            <a:srgbClr val="FFF0F0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783080"/>
            <a:ext cx="685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🚫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5568" y="17556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Sobreproteger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222199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Permitir que experimenten consecuencias naturales (supervisadas). Aprender a gestionar el error es una habilidad vital.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4023360" cy="1508760"/>
          </a:xfrm>
          <a:prstGeom prst="rect">
            <a:avLst/>
          </a:prstGeom>
          <a:solidFill>
            <a:srgbClr val="FFF0F0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783080"/>
            <a:ext cx="685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04688" y="17556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Comparar constantemente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04688" y="222199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Cada adolescente tiene su ritmo. Compararlos genera inseguridad y resentimiento. Valora sus progresos individuales.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319272"/>
            <a:ext cx="4023360" cy="1508760"/>
          </a:xfrm>
          <a:prstGeom prst="rect">
            <a:avLst/>
          </a:prstGeom>
          <a:solidFill>
            <a:srgbClr val="FFF0F0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410712"/>
            <a:ext cx="685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📵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15568" y="3383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Prohibir sin explicar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849624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Las reglas sin justificación generan rebeldía. Explica el razonamiento detrás de cada límite con respeto.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3319272"/>
            <a:ext cx="4023360" cy="1508760"/>
          </a:xfrm>
          <a:prstGeom prst="rect">
            <a:avLst/>
          </a:prstGeom>
          <a:solidFill>
            <a:srgbClr val="FFF0F0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410712"/>
            <a:ext cx="685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🎭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04688" y="3383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mostrar vulnerabilidad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04688" y="3849624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Compartir tus miedos y errores humaniza la relación. Los hijos necesitan ver que los adultos también fallan y aprenden.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946904"/>
            <a:ext cx="4023360" cy="1508760"/>
          </a:xfrm>
          <a:prstGeom prst="rect">
            <a:avLst/>
          </a:prstGeom>
          <a:solidFill>
            <a:srgbClr val="FFF0F0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5038344"/>
            <a:ext cx="685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🔕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15568" y="501091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escuchar activamente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5477256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Escuchar es más que oír. Apaga la pantalla, mira a los ojos y valida antes de dar consejos o soluciones.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4946904"/>
            <a:ext cx="4023360" cy="1508760"/>
          </a:xfrm>
          <a:prstGeom prst="rect">
            <a:avLst/>
          </a:prstGeom>
          <a:solidFill>
            <a:srgbClr val="FFF0F0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5038344"/>
            <a:ext cx="685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504688" y="501091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dedicar tiempo de calidad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5477256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La cantidad importa menos que la calidad. Cenas sin pantallas, actividades compartidas, pequeñas conversaciones diarias.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Hábitos Semanales para Padres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77240" cy="640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34440" y="1097280"/>
            <a:ext cx="7543800" cy="640080"/>
          </a:xfrm>
          <a:prstGeom prst="rect">
            <a:avLst/>
          </a:prstGeom>
          <a:solidFill>
            <a:srgbClr val="F8FFF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143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Cena sin pantallas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143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de conversación genuina.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777240" cy="6400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7452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34440" y="1874520"/>
            <a:ext cx="7543800" cy="640080"/>
          </a:xfrm>
          <a:prstGeom prst="rect">
            <a:avLst/>
          </a:prstGeom>
          <a:solidFill>
            <a:srgbClr val="F8FFF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 Pregunta abierta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fue lo más difícil hoy?"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777240" cy="6400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5176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34440" y="2651760"/>
            <a:ext cx="7543800" cy="640080"/>
          </a:xfrm>
          <a:prstGeom prst="rect">
            <a:avLst/>
          </a:prstGeom>
          <a:solidFill>
            <a:srgbClr val="F8FFF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Su mundo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interés en su música, juego o serie favorita.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777240" cy="6400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290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234440" y="3429000"/>
            <a:ext cx="7543800" cy="640080"/>
          </a:xfrm>
          <a:prstGeom prst="rect">
            <a:avLst/>
          </a:prstGeom>
          <a:solidFill>
            <a:srgbClr val="F8FFFE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🙏 Reconócelo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3474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un logro o virtud específica que hayas notado.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777240" cy="64008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062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34440" y="4206240"/>
            <a:ext cx="7543800" cy="640080"/>
          </a:xfrm>
          <a:prstGeom prst="rect">
            <a:avLst/>
          </a:prstGeom>
          <a:solidFill>
            <a:srgbClr val="F8FFFE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251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7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🚶 Salida juntos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4251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sea 15 min de paseo o compras.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983480"/>
            <a:ext cx="777240" cy="6400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8348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SÁB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234440" y="4983480"/>
            <a:ext cx="7543800" cy="640080"/>
          </a:xfrm>
          <a:prstGeom prst="rect">
            <a:avLst/>
          </a:prstGeom>
          <a:solidFill>
            <a:srgbClr val="F8FFFE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5029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1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Proyecto compartido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6344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Cocinar, armar, reparar algo juntos.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5760720"/>
            <a:ext cx="77724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76072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234440" y="5760720"/>
            <a:ext cx="7543800" cy="640080"/>
          </a:xfrm>
          <a:prstGeom prst="rect">
            <a:avLst/>
          </a:prstGeom>
          <a:solidFill>
            <a:srgbClr val="F8FFFE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5806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Revisión familiar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63440" y="5806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estuvo la semana? ¿Hay algo que mejorar?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42288" cy="182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00" y="0"/>
            <a:ext cx="1542288" cy="1828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8000" y="0"/>
            <a:ext cx="1542288" cy="1828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1542288" cy="1828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1542288" cy="18288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0" y="0"/>
            <a:ext cx="1542288" cy="1828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8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Recuerda siempre...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0" y="1097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0" dirty="0">
                <a:solidFill>
                  <a:srgbClr val="000000"/>
                </a:solidFill>
              </a:rPr>
              <a:t>⭐</a:t>
            </a:r>
            <a:endParaRPr lang="en-US" sz="5500" dirty="0"/>
          </a:p>
        </p:txBody>
      </p:sp>
      <p:sp>
        <p:nvSpPr>
          <p:cNvPr id="10" name="Shape 8"/>
          <p:cNvSpPr/>
          <p:nvPr/>
        </p:nvSpPr>
        <p:spPr>
          <a:xfrm>
            <a:off x="914400" y="2103120"/>
            <a:ext cx="731520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10312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necesitas ser perfecto/a — necesitas estar presente."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2971800"/>
            <a:ext cx="731520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97180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abrazo a tiempo vale más que mil consejos."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3840480"/>
            <a:ext cx="731520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84048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 hijo/a te necesita como guía, no como rival."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4709160"/>
            <a:ext cx="731520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F8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70916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 etapa pasa. Lo que construyan juntos permanece."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5349240"/>
            <a:ext cx="8229600" cy="3657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3766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Recursos recomendados: OPS/OMS — Salud del Adolescente • UNICEF Parenting Tips • Fundación Manantial • Psicólogos especializados en adolescencia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elaborada con amor para familias que quieren crecer junto a sus hijos ❤️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para Padres de Adolescentes</dc:title>
  <dc:subject>PptxGenJS Presentation</dc:subject>
  <dc:creator>PptxGenJS</dc:creator>
  <cp:lastModifiedBy>PptxGenJS</cp:lastModifiedBy>
  <cp:revision>1</cp:revision>
  <dcterms:created xsi:type="dcterms:W3CDTF">2026-02-22T01:24:31Z</dcterms:created>
  <dcterms:modified xsi:type="dcterms:W3CDTF">2026-02-22T01:24:31Z</dcterms:modified>
</cp:coreProperties>
</file>